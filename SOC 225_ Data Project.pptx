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d5b15f0a3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d5b15f0a3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f2c119bb0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f2c119bb0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72363054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72363054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cb9a0b074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cb9a0b074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of the questions that are given that I conducted an experiment with </a:t>
            </a:r>
            <a:endParaRPr/>
          </a:p>
          <a:p>
            <a:pPr indent="0" lvl="0" marL="0" rtl="0" algn="l">
              <a:spcBef>
                <a:spcPts val="0"/>
              </a:spcBef>
              <a:spcAft>
                <a:spcPts val="0"/>
              </a:spcAft>
              <a:buNone/>
            </a:pPr>
            <a:r>
              <a:rPr lang="en"/>
              <a:t>The main purpose for selecting these questions was whether </a:t>
            </a:r>
            <a:r>
              <a:rPr lang="en"/>
              <a:t>algorithms</a:t>
            </a:r>
            <a:r>
              <a:rPr lang="en"/>
              <a:t> of showing emotional or influencing content make the user feel like </a:t>
            </a:r>
            <a:r>
              <a:rPr lang="en"/>
              <a:t>inadequate</a:t>
            </a:r>
            <a:r>
              <a:rPr lang="en"/>
              <a:t> or depressive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d251bb473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d251bb473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filtered the data using dplyr package and created a graph using ggplot and found out that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f2c7bba8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f2c7bba8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filtered the data using dplyr package and created a graph using ggplot and found out that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f2c7bba8f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f2c7bba8f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not 100 percent accurate datas. The results according to the machine learning tests are suggesting 50% accuracy due to high subjectivity of the topic.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f2c7bba8f2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f2c7bba8f2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filtered the data using dplyr package and created a graph using ggplot and found out that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ALGORITHMS</a:t>
            </a:r>
            <a:r>
              <a:rPr lang="en"/>
              <a:t> IN SOCIAL MEDIA AND ITS MENTAL HEALTH EFFECTS</a:t>
            </a: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Eda Gokdogan </a:t>
            </a:r>
            <a:endParaRPr b="1" sz="2400"/>
          </a:p>
        </p:txBody>
      </p:sp>
      <p:sp>
        <p:nvSpPr>
          <p:cNvPr id="74" name="Google Shape;74;p1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78" name="Shape 78"/>
        <p:cNvGrpSpPr/>
        <p:nvPr/>
      </p:nvGrpSpPr>
      <p:grpSpPr>
        <a:xfrm>
          <a:off x="0" y="0"/>
          <a:ext cx="0" cy="0"/>
          <a:chOff x="0" y="0"/>
          <a:chExt cx="0" cy="0"/>
        </a:xfrm>
      </p:grpSpPr>
      <p:pic>
        <p:nvPicPr>
          <p:cNvPr id="79" name="Google Shape;79;p14"/>
          <p:cNvPicPr preferRelativeResize="0"/>
          <p:nvPr/>
        </p:nvPicPr>
        <p:blipFill>
          <a:blip r:embed="rId3">
            <a:alphaModFix/>
          </a:blip>
          <a:stretch>
            <a:fillRect/>
          </a:stretch>
        </p:blipFill>
        <p:spPr>
          <a:xfrm>
            <a:off x="5496075" y="0"/>
            <a:ext cx="3647925" cy="2270675"/>
          </a:xfrm>
          <a:prstGeom prst="rect">
            <a:avLst/>
          </a:prstGeom>
          <a:noFill/>
          <a:ln>
            <a:noFill/>
          </a:ln>
        </p:spPr>
      </p:pic>
      <p:pic>
        <p:nvPicPr>
          <p:cNvPr descr="Computer Science: Algorithms" id="80" name="Google Shape;80;p14"/>
          <p:cNvPicPr preferRelativeResize="0"/>
          <p:nvPr/>
        </p:nvPicPr>
        <p:blipFill>
          <a:blip r:embed="rId4">
            <a:alphaModFix/>
          </a:blip>
          <a:stretch>
            <a:fillRect/>
          </a:stretch>
        </p:blipFill>
        <p:spPr>
          <a:xfrm>
            <a:off x="5731700" y="3257650"/>
            <a:ext cx="3099324" cy="1741700"/>
          </a:xfrm>
          <a:prstGeom prst="rect">
            <a:avLst/>
          </a:prstGeom>
          <a:noFill/>
          <a:ln>
            <a:noFill/>
          </a:ln>
        </p:spPr>
      </p:pic>
      <p:sp>
        <p:nvSpPr>
          <p:cNvPr id="81" name="Google Shape;81;p14"/>
          <p:cNvSpPr txBox="1"/>
          <p:nvPr>
            <p:ph idx="4294967295" type="title"/>
          </p:nvPr>
        </p:nvSpPr>
        <p:spPr>
          <a:xfrm>
            <a:off x="225775" y="177050"/>
            <a:ext cx="81786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Algorithms Review</a:t>
            </a:r>
            <a:endParaRPr sz="2400"/>
          </a:p>
        </p:txBody>
      </p:sp>
      <p:sp>
        <p:nvSpPr>
          <p:cNvPr id="82" name="Google Shape;82;p14"/>
          <p:cNvSpPr txBox="1"/>
          <p:nvPr>
            <p:ph idx="4294967295" type="title"/>
          </p:nvPr>
        </p:nvSpPr>
        <p:spPr>
          <a:xfrm>
            <a:off x="116125" y="1121125"/>
            <a:ext cx="5935200" cy="3694500"/>
          </a:xfrm>
          <a:prstGeom prst="rect">
            <a:avLst/>
          </a:prstGeom>
          <a:solidFill>
            <a:srgbClr val="A4C2F4"/>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Font typeface="Lato"/>
              <a:buChar char="●"/>
            </a:pPr>
            <a:r>
              <a:rPr b="0" lang="en" sz="1700">
                <a:latin typeface="Lato"/>
                <a:ea typeface="Lato"/>
                <a:cs typeface="Lato"/>
                <a:sym typeface="Lato"/>
              </a:rPr>
              <a:t>Algorithms in class we defined as a set of instructions to perform a task. </a:t>
            </a:r>
            <a:endParaRPr b="0" sz="1700">
              <a:latin typeface="Lato"/>
              <a:ea typeface="Lato"/>
              <a:cs typeface="Lato"/>
              <a:sym typeface="Lato"/>
            </a:endParaRPr>
          </a:p>
          <a:p>
            <a:pPr indent="-336550" lvl="0" marL="457200" rtl="0" algn="l">
              <a:lnSpc>
                <a:spcPct val="115000"/>
              </a:lnSpc>
              <a:spcBef>
                <a:spcPts val="0"/>
              </a:spcBef>
              <a:spcAft>
                <a:spcPts val="0"/>
              </a:spcAft>
              <a:buSzPts val="1700"/>
              <a:buFont typeface="Lato"/>
              <a:buChar char="●"/>
            </a:pPr>
            <a:r>
              <a:rPr b="0" lang="en" sz="1700">
                <a:latin typeface="Lato"/>
                <a:ea typeface="Lato"/>
                <a:cs typeface="Lato"/>
                <a:sym typeface="Lato"/>
              </a:rPr>
              <a:t>It acts as an exact list of instructions that conduct action step by step to create some output </a:t>
            </a:r>
            <a:endParaRPr b="0" sz="1700">
              <a:latin typeface="Lato"/>
              <a:ea typeface="Lato"/>
              <a:cs typeface="Lato"/>
              <a:sym typeface="Lato"/>
            </a:endParaRPr>
          </a:p>
          <a:p>
            <a:pPr indent="-336550" lvl="0" marL="457200" rtl="0" algn="l">
              <a:lnSpc>
                <a:spcPct val="115000"/>
              </a:lnSpc>
              <a:spcBef>
                <a:spcPts val="0"/>
              </a:spcBef>
              <a:spcAft>
                <a:spcPts val="0"/>
              </a:spcAft>
              <a:buSzPts val="1700"/>
              <a:buFont typeface="Lato"/>
              <a:buChar char="●"/>
            </a:pPr>
            <a:r>
              <a:rPr b="0" lang="en" sz="1700">
                <a:latin typeface="Lato"/>
                <a:ea typeface="Lato"/>
                <a:cs typeface="Lato"/>
                <a:sym typeface="Lato"/>
              </a:rPr>
              <a:t>It is used throughout all areas such computer science, mathematics, automated systems</a:t>
            </a:r>
            <a:endParaRPr b="0" sz="1700">
              <a:latin typeface="Lato"/>
              <a:ea typeface="Lato"/>
              <a:cs typeface="Lato"/>
              <a:sym typeface="Lato"/>
            </a:endParaRPr>
          </a:p>
          <a:p>
            <a:pPr indent="-336550" lvl="0" marL="457200" rtl="0" algn="l">
              <a:lnSpc>
                <a:spcPct val="115000"/>
              </a:lnSpc>
              <a:spcBef>
                <a:spcPts val="0"/>
              </a:spcBef>
              <a:spcAft>
                <a:spcPts val="0"/>
              </a:spcAft>
              <a:buSzPts val="1700"/>
              <a:buFont typeface="Lato"/>
              <a:buChar char="●"/>
            </a:pPr>
            <a:r>
              <a:rPr b="0" lang="en" sz="1700">
                <a:latin typeface="Lato"/>
                <a:ea typeface="Lato"/>
                <a:cs typeface="Lato"/>
                <a:sym typeface="Lato"/>
              </a:rPr>
              <a:t>In this context, the algorithm used as recommendations for user content on social media </a:t>
            </a:r>
            <a:endParaRPr b="0" sz="1700">
              <a:latin typeface="Lato"/>
              <a:ea typeface="Lato"/>
              <a:cs typeface="Lato"/>
              <a:sym typeface="Lato"/>
            </a:endParaRPr>
          </a:p>
          <a:p>
            <a:pPr indent="-336550" lvl="0" marL="457200" rtl="0" algn="l">
              <a:lnSpc>
                <a:spcPct val="115000"/>
              </a:lnSpc>
              <a:spcBef>
                <a:spcPts val="0"/>
              </a:spcBef>
              <a:spcAft>
                <a:spcPts val="0"/>
              </a:spcAft>
              <a:buSzPts val="1700"/>
              <a:buFont typeface="Lato"/>
              <a:buChar char="●"/>
            </a:pPr>
            <a:r>
              <a:rPr b="0" lang="en" sz="1700">
                <a:latin typeface="Lato"/>
                <a:ea typeface="Lato"/>
                <a:cs typeface="Lato"/>
                <a:sym typeface="Lato"/>
              </a:rPr>
              <a:t>The social media environment makes  algorithmic decision making  using computer programs with massive quantities of data about each user in order to deliver content that user could find it engagi</a:t>
            </a:r>
            <a:r>
              <a:rPr b="0" lang="en" sz="1700">
                <a:latin typeface="Lato"/>
                <a:ea typeface="Lato"/>
                <a:cs typeface="Lato"/>
                <a:sym typeface="Lato"/>
              </a:rPr>
              <a:t>ng </a:t>
            </a:r>
            <a:endParaRPr b="0" sz="1700">
              <a:latin typeface="Lato"/>
              <a:ea typeface="Lato"/>
              <a:cs typeface="Lato"/>
              <a:sym typeface="Lato"/>
            </a:endParaRPr>
          </a:p>
        </p:txBody>
      </p:sp>
      <p:sp>
        <p:nvSpPr>
          <p:cNvPr id="83" name="Google Shape;83;p1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87" name="Shape 87"/>
        <p:cNvGrpSpPr/>
        <p:nvPr/>
      </p:nvGrpSpPr>
      <p:grpSpPr>
        <a:xfrm>
          <a:off x="0" y="0"/>
          <a:ext cx="0" cy="0"/>
          <a:chOff x="0" y="0"/>
          <a:chExt cx="0" cy="0"/>
        </a:xfrm>
      </p:grpSpPr>
      <p:sp>
        <p:nvSpPr>
          <p:cNvPr id="88" name="Google Shape;88;p15"/>
          <p:cNvSpPr txBox="1"/>
          <p:nvPr>
            <p:ph idx="4294967295" type="title"/>
          </p:nvPr>
        </p:nvSpPr>
        <p:spPr>
          <a:xfrm>
            <a:off x="96875" y="0"/>
            <a:ext cx="81786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Background</a:t>
            </a:r>
            <a:endParaRPr sz="2400"/>
          </a:p>
        </p:txBody>
      </p:sp>
      <p:sp>
        <p:nvSpPr>
          <p:cNvPr id="89" name="Google Shape;89;p15"/>
          <p:cNvSpPr txBox="1"/>
          <p:nvPr>
            <p:ph idx="4294967295" type="title"/>
          </p:nvPr>
        </p:nvSpPr>
        <p:spPr>
          <a:xfrm>
            <a:off x="0" y="664425"/>
            <a:ext cx="6336600" cy="4538100"/>
          </a:xfrm>
          <a:prstGeom prst="rect">
            <a:avLst/>
          </a:prstGeom>
          <a:solidFill>
            <a:srgbClr val="A4C2F4"/>
          </a:solidFill>
        </p:spPr>
        <p:txBody>
          <a:bodyPr anchorCtr="0" anchor="t" bIns="91425" lIns="91425" spcFirstLastPara="1" rIns="91425" wrap="square" tIns="91425">
            <a:noAutofit/>
          </a:bodyPr>
          <a:lstStyle/>
          <a:p>
            <a:pPr indent="-330200" lvl="0" marL="457200" rtl="0" algn="just">
              <a:lnSpc>
                <a:spcPct val="115000"/>
              </a:lnSpc>
              <a:spcBef>
                <a:spcPts val="0"/>
              </a:spcBef>
              <a:spcAft>
                <a:spcPts val="0"/>
              </a:spcAft>
              <a:buSzPts val="1600"/>
              <a:buFont typeface="Lato"/>
              <a:buChar char="●"/>
            </a:pPr>
            <a:r>
              <a:rPr b="0" lang="en" sz="1600">
                <a:latin typeface="Lato"/>
                <a:ea typeface="Lato"/>
                <a:cs typeface="Lato"/>
                <a:sym typeface="Lato"/>
              </a:rPr>
              <a:t>The goal of my project is to examine social media and mental health by investigating the correlation between the social media usage and its impact on mental health</a:t>
            </a:r>
            <a:endParaRPr b="0" sz="1600">
              <a:latin typeface="Lato"/>
              <a:ea typeface="Lato"/>
              <a:cs typeface="Lato"/>
              <a:sym typeface="Lato"/>
            </a:endParaRPr>
          </a:p>
          <a:p>
            <a:pPr indent="-330200" lvl="0" marL="457200" rtl="0" algn="just">
              <a:lnSpc>
                <a:spcPct val="115000"/>
              </a:lnSpc>
              <a:spcBef>
                <a:spcPts val="0"/>
              </a:spcBef>
              <a:spcAft>
                <a:spcPts val="0"/>
              </a:spcAft>
              <a:buSzPts val="1600"/>
              <a:buFont typeface="Lato"/>
              <a:buChar char="●"/>
            </a:pPr>
            <a:r>
              <a:rPr b="0" lang="en" sz="1600">
                <a:latin typeface="Lato"/>
                <a:ea typeface="Lato"/>
                <a:cs typeface="Lato"/>
                <a:sym typeface="Lato"/>
              </a:rPr>
              <a:t>It aims to address computer algorithms and the content people see on social media. The research mainly focuses on the age group from 18 to 29.  </a:t>
            </a:r>
            <a:endParaRPr b="0" sz="1600">
              <a:latin typeface="Lato"/>
              <a:ea typeface="Lato"/>
              <a:cs typeface="Lato"/>
              <a:sym typeface="Lato"/>
            </a:endParaRPr>
          </a:p>
          <a:p>
            <a:pPr indent="-330200" lvl="0" marL="457200" rtl="0" algn="just">
              <a:lnSpc>
                <a:spcPct val="115000"/>
              </a:lnSpc>
              <a:spcBef>
                <a:spcPts val="0"/>
              </a:spcBef>
              <a:spcAft>
                <a:spcPts val="0"/>
              </a:spcAft>
              <a:buSzPts val="1600"/>
              <a:buFont typeface="Lato"/>
              <a:buChar char="●"/>
            </a:pPr>
            <a:r>
              <a:rPr b="0" lang="en" sz="1600">
                <a:latin typeface="Lato"/>
                <a:ea typeface="Lato"/>
                <a:cs typeface="Lato"/>
                <a:sym typeface="Lato"/>
              </a:rPr>
              <a:t>Researching</a:t>
            </a:r>
            <a:r>
              <a:rPr b="0" lang="en" sz="1600">
                <a:latin typeface="Lato"/>
                <a:ea typeface="Lato"/>
                <a:cs typeface="Lato"/>
                <a:sym typeface="Lato"/>
              </a:rPr>
              <a:t> whether </a:t>
            </a:r>
            <a:r>
              <a:rPr b="0" lang="en" sz="1600">
                <a:latin typeface="Lato"/>
                <a:ea typeface="Lato"/>
                <a:cs typeface="Lato"/>
                <a:sym typeface="Lato"/>
              </a:rPr>
              <a:t>Algorithm-Driven content shown on the social media to maximize user engagement could lead to involvement of comparisons, feeling of inadequacy and depression.</a:t>
            </a:r>
            <a:endParaRPr b="0" sz="1600">
              <a:latin typeface="Lato"/>
              <a:ea typeface="Lato"/>
              <a:cs typeface="Lato"/>
              <a:sym typeface="Lato"/>
            </a:endParaRPr>
          </a:p>
          <a:p>
            <a:pPr indent="-330200" lvl="0" marL="457200" rtl="0" algn="just">
              <a:lnSpc>
                <a:spcPct val="115000"/>
              </a:lnSpc>
              <a:spcBef>
                <a:spcPts val="0"/>
              </a:spcBef>
              <a:spcAft>
                <a:spcPts val="0"/>
              </a:spcAft>
              <a:buSzPts val="1600"/>
              <a:buFont typeface="Lato"/>
              <a:buChar char="●"/>
            </a:pPr>
            <a:r>
              <a:rPr b="0" lang="en" sz="1600">
                <a:latin typeface="Lato"/>
                <a:ea typeface="Lato"/>
                <a:cs typeface="Lato"/>
                <a:sym typeface="Lato"/>
              </a:rPr>
              <a:t>The research examines whether social media usage has an effect on mental health variables. These variables show the reflections of users' interactions with social media platforms and its psychological effects of the interactions</a:t>
            </a:r>
            <a:endParaRPr b="0" sz="1600">
              <a:latin typeface="Lato"/>
              <a:ea typeface="Lato"/>
              <a:cs typeface="Lato"/>
              <a:sym typeface="Lato"/>
            </a:endParaRPr>
          </a:p>
          <a:p>
            <a:pPr indent="-330200" lvl="0" marL="457200" rtl="0" algn="just">
              <a:lnSpc>
                <a:spcPct val="115000"/>
              </a:lnSpc>
              <a:spcBef>
                <a:spcPts val="0"/>
              </a:spcBef>
              <a:spcAft>
                <a:spcPts val="0"/>
              </a:spcAft>
              <a:buSzPts val="1600"/>
              <a:buFont typeface="Lato"/>
              <a:buChar char="●"/>
            </a:pPr>
            <a:r>
              <a:rPr b="0" lang="en" sz="1600">
                <a:latin typeface="Lato"/>
                <a:ea typeface="Lato"/>
                <a:cs typeface="Lato"/>
                <a:sym typeface="Lato"/>
              </a:rPr>
              <a:t>The data that I used was from Kaggle called Social Media and Mental Health by Souivik Ahmed </a:t>
            </a:r>
            <a:endParaRPr b="0" sz="1600">
              <a:latin typeface="Lato"/>
              <a:ea typeface="Lato"/>
              <a:cs typeface="Lato"/>
              <a:sym typeface="Lato"/>
            </a:endParaRPr>
          </a:p>
          <a:p>
            <a:pPr indent="0" lvl="0" marL="457200" rtl="0" algn="just">
              <a:lnSpc>
                <a:spcPct val="115000"/>
              </a:lnSpc>
              <a:spcBef>
                <a:spcPts val="1600"/>
              </a:spcBef>
              <a:spcAft>
                <a:spcPts val="0"/>
              </a:spcAft>
              <a:buNone/>
            </a:pPr>
            <a:r>
              <a:t/>
            </a:r>
            <a:endParaRPr b="0" sz="1700">
              <a:latin typeface="Lato"/>
              <a:ea typeface="Lato"/>
              <a:cs typeface="Lato"/>
              <a:sym typeface="Lato"/>
            </a:endParaRPr>
          </a:p>
          <a:p>
            <a:pPr indent="0" lvl="0" marL="0" rtl="0" algn="l">
              <a:lnSpc>
                <a:spcPct val="115000"/>
              </a:lnSpc>
              <a:spcBef>
                <a:spcPts val="1600"/>
              </a:spcBef>
              <a:spcAft>
                <a:spcPts val="1600"/>
              </a:spcAft>
              <a:buNone/>
            </a:pPr>
            <a:r>
              <a:t/>
            </a:r>
            <a:endParaRPr b="0" sz="1700">
              <a:latin typeface="Lato"/>
              <a:ea typeface="Lato"/>
              <a:cs typeface="Lato"/>
              <a:sym typeface="Lato"/>
            </a:endParaRPr>
          </a:p>
        </p:txBody>
      </p:sp>
      <p:sp>
        <p:nvSpPr>
          <p:cNvPr id="90" name="Google Shape;90;p1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1" name="Google Shape;91;p15"/>
          <p:cNvPicPr preferRelativeResize="0"/>
          <p:nvPr/>
        </p:nvPicPr>
        <p:blipFill>
          <a:blip r:embed="rId3">
            <a:alphaModFix/>
          </a:blip>
          <a:stretch>
            <a:fillRect/>
          </a:stretch>
        </p:blipFill>
        <p:spPr>
          <a:xfrm>
            <a:off x="6355575" y="2246075"/>
            <a:ext cx="2836276" cy="28362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5" name="Shape 95"/>
        <p:cNvGrpSpPr/>
        <p:nvPr/>
      </p:nvGrpSpPr>
      <p:grpSpPr>
        <a:xfrm>
          <a:off x="0" y="0"/>
          <a:ext cx="0" cy="0"/>
          <a:chOff x="0" y="0"/>
          <a:chExt cx="0" cy="0"/>
        </a:xfrm>
      </p:grpSpPr>
      <p:pic>
        <p:nvPicPr>
          <p:cNvPr id="96" name="Google Shape;96;p16"/>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97" name="Google Shape;97;p16"/>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98" name="Google Shape;98;p16"/>
          <p:cNvSpPr txBox="1"/>
          <p:nvPr/>
        </p:nvSpPr>
        <p:spPr>
          <a:xfrm>
            <a:off x="3095975" y="724400"/>
            <a:ext cx="37503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434343"/>
                </a:solidFill>
                <a:latin typeface="Raleway"/>
                <a:ea typeface="Raleway"/>
                <a:cs typeface="Raleway"/>
                <a:sym typeface="Raleway"/>
              </a:rPr>
              <a:t>Research</a:t>
            </a:r>
            <a:r>
              <a:rPr b="1" lang="en" sz="2400">
                <a:solidFill>
                  <a:srgbClr val="434343"/>
                </a:solidFill>
                <a:latin typeface="Raleway"/>
                <a:ea typeface="Raleway"/>
                <a:cs typeface="Raleway"/>
                <a:sym typeface="Raleway"/>
              </a:rPr>
              <a:t> Question</a:t>
            </a:r>
            <a:endParaRPr b="1" sz="2400">
              <a:solidFill>
                <a:srgbClr val="434343"/>
              </a:solidFill>
              <a:latin typeface="Raleway"/>
              <a:ea typeface="Raleway"/>
              <a:cs typeface="Raleway"/>
              <a:sym typeface="Raleway"/>
            </a:endParaRPr>
          </a:p>
        </p:txBody>
      </p:sp>
      <p:sp>
        <p:nvSpPr>
          <p:cNvPr id="99" name="Google Shape;99;p16"/>
          <p:cNvSpPr txBox="1"/>
          <p:nvPr>
            <p:ph idx="4294967295" type="body"/>
          </p:nvPr>
        </p:nvSpPr>
        <p:spPr>
          <a:xfrm>
            <a:off x="2809300" y="1368230"/>
            <a:ext cx="3432900" cy="3327900"/>
          </a:xfrm>
          <a:prstGeom prst="rect">
            <a:avLst/>
          </a:prstGeom>
          <a:solidFill>
            <a:srgbClr val="C9DAF8"/>
          </a:solid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400">
              <a:solidFill>
                <a:schemeClr val="dk1"/>
              </a:solidFill>
              <a:latin typeface="Raleway"/>
              <a:ea typeface="Raleway"/>
              <a:cs typeface="Raleway"/>
              <a:sym typeface="Raleway"/>
            </a:endParaRPr>
          </a:p>
          <a:p>
            <a:pPr indent="0" lvl="0" marL="0" rtl="0" algn="l">
              <a:spcBef>
                <a:spcPts val="1000"/>
              </a:spcBef>
              <a:spcAft>
                <a:spcPts val="0"/>
              </a:spcAft>
              <a:buNone/>
            </a:pPr>
            <a:r>
              <a:t/>
            </a:r>
            <a:endParaRPr b="1" sz="1400">
              <a:solidFill>
                <a:schemeClr val="dk1"/>
              </a:solidFill>
              <a:latin typeface="Raleway"/>
              <a:ea typeface="Raleway"/>
              <a:cs typeface="Raleway"/>
              <a:sym typeface="Raleway"/>
            </a:endParaRPr>
          </a:p>
          <a:p>
            <a:pPr indent="0" lvl="0" marL="0" rtl="0" algn="just">
              <a:spcBef>
                <a:spcPts val="1000"/>
              </a:spcBef>
              <a:spcAft>
                <a:spcPts val="0"/>
              </a:spcAft>
              <a:buNone/>
            </a:pPr>
            <a:r>
              <a:rPr b="1" lang="en" sz="1600">
                <a:solidFill>
                  <a:schemeClr val="dk1"/>
                </a:solidFill>
                <a:latin typeface="Raleway"/>
                <a:ea typeface="Raleway"/>
                <a:cs typeface="Raleway"/>
                <a:sym typeface="Raleway"/>
              </a:rPr>
              <a:t>How does social media users feel while using social media platforms? How are algorithm driven content on social media and mental health related with each other? </a:t>
            </a:r>
            <a:endParaRPr b="1" sz="1600">
              <a:solidFill>
                <a:schemeClr val="dk1"/>
              </a:solidFill>
              <a:latin typeface="Raleway"/>
              <a:ea typeface="Raleway"/>
              <a:cs typeface="Raleway"/>
              <a:sym typeface="Raleway"/>
            </a:endParaRPr>
          </a:p>
          <a:p>
            <a:pPr indent="0" lvl="0" marL="0" rtl="0" algn="l">
              <a:spcBef>
                <a:spcPts val="1000"/>
              </a:spcBef>
              <a:spcAft>
                <a:spcPts val="0"/>
              </a:spcAft>
              <a:buNone/>
            </a:pPr>
            <a:r>
              <a:t/>
            </a:r>
            <a:endParaRPr sz="1400">
              <a:latin typeface="Raleway"/>
              <a:ea typeface="Raleway"/>
              <a:cs typeface="Raleway"/>
              <a:sym typeface="Raleway"/>
            </a:endParaRPr>
          </a:p>
          <a:p>
            <a:pPr indent="0" lvl="0" marL="0" rtl="0" algn="l">
              <a:spcBef>
                <a:spcPts val="1000"/>
              </a:spcBef>
              <a:spcAft>
                <a:spcPts val="0"/>
              </a:spcAft>
              <a:buNone/>
            </a:pPr>
            <a:r>
              <a:t/>
            </a:r>
            <a:endParaRPr sz="1400">
              <a:latin typeface="Raleway"/>
              <a:ea typeface="Raleway"/>
              <a:cs typeface="Raleway"/>
              <a:sym typeface="Raleway"/>
            </a:endParaRPr>
          </a:p>
          <a:p>
            <a:pPr indent="0" lvl="0" marL="0" rtl="0" algn="l">
              <a:spcBef>
                <a:spcPts val="1000"/>
              </a:spcBef>
              <a:spcAft>
                <a:spcPts val="0"/>
              </a:spcAft>
              <a:buNone/>
            </a:pPr>
            <a:r>
              <a:rPr lang="en" sz="1400">
                <a:latin typeface="Raleway"/>
                <a:ea typeface="Raleway"/>
                <a:cs typeface="Raleway"/>
                <a:sym typeface="Raleway"/>
              </a:rPr>
              <a:t> </a:t>
            </a:r>
            <a:br>
              <a:rPr lang="en" sz="1400">
                <a:latin typeface="Raleway"/>
                <a:ea typeface="Raleway"/>
                <a:cs typeface="Raleway"/>
                <a:sym typeface="Raleway"/>
              </a:rPr>
            </a:br>
            <a:endParaRPr sz="1200">
              <a:latin typeface="Raleway"/>
              <a:ea typeface="Raleway"/>
              <a:cs typeface="Raleway"/>
              <a:sym typeface="Raleway"/>
            </a:endParaRPr>
          </a:p>
          <a:p>
            <a:pPr indent="0" lvl="0" marL="457200" rtl="0" algn="l">
              <a:spcBef>
                <a:spcPts val="1000"/>
              </a:spcBef>
              <a:spcAft>
                <a:spcPts val="1000"/>
              </a:spcAft>
              <a:buNone/>
            </a:pPr>
            <a:r>
              <a:t/>
            </a:r>
            <a:endParaRPr sz="1200">
              <a:solidFill>
                <a:schemeClr val="dk2"/>
              </a:solidFill>
              <a:latin typeface="Raleway"/>
              <a:ea typeface="Raleway"/>
              <a:cs typeface="Raleway"/>
              <a:sym typeface="Raleway"/>
            </a:endParaRPr>
          </a:p>
        </p:txBody>
      </p:sp>
      <p:sp>
        <p:nvSpPr>
          <p:cNvPr id="100" name="Google Shape;100;p1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4" name="Shape 104"/>
        <p:cNvGrpSpPr/>
        <p:nvPr/>
      </p:nvGrpSpPr>
      <p:grpSpPr>
        <a:xfrm>
          <a:off x="0" y="0"/>
          <a:ext cx="0" cy="0"/>
          <a:chOff x="0" y="0"/>
          <a:chExt cx="0" cy="0"/>
        </a:xfrm>
      </p:grpSpPr>
      <p:pic>
        <p:nvPicPr>
          <p:cNvPr id="105" name="Google Shape;105;p17"/>
          <p:cNvPicPr preferRelativeResize="0"/>
          <p:nvPr/>
        </p:nvPicPr>
        <p:blipFill>
          <a:blip r:embed="rId3">
            <a:alphaModFix/>
          </a:blip>
          <a:stretch>
            <a:fillRect/>
          </a:stretch>
        </p:blipFill>
        <p:spPr>
          <a:xfrm>
            <a:off x="58575" y="162725"/>
            <a:ext cx="8979376" cy="4818049"/>
          </a:xfrm>
          <a:prstGeom prst="rect">
            <a:avLst/>
          </a:prstGeom>
          <a:noFill/>
          <a:ln>
            <a:noFill/>
          </a:ln>
        </p:spPr>
      </p:pic>
      <p:pic>
        <p:nvPicPr>
          <p:cNvPr descr="Piece of duct tape sticking a note to the slide" id="106" name="Google Shape;106;p17"/>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107" name="Google Shape;107;p17"/>
          <p:cNvSpPr txBox="1"/>
          <p:nvPr/>
        </p:nvSpPr>
        <p:spPr>
          <a:xfrm>
            <a:off x="1672775" y="503900"/>
            <a:ext cx="58857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000">
              <a:solidFill>
                <a:schemeClr val="lt2"/>
              </a:solidFill>
              <a:latin typeface="Raleway"/>
              <a:ea typeface="Raleway"/>
              <a:cs typeface="Raleway"/>
              <a:sym typeface="Raleway"/>
            </a:endParaRPr>
          </a:p>
          <a:p>
            <a:pPr indent="0" lvl="0" marL="0" rtl="0" algn="l">
              <a:spcBef>
                <a:spcPts val="0"/>
              </a:spcBef>
              <a:spcAft>
                <a:spcPts val="0"/>
              </a:spcAft>
              <a:buNone/>
            </a:pPr>
            <a:r>
              <a:t/>
            </a:r>
            <a:endParaRPr b="1" sz="3000">
              <a:solidFill>
                <a:schemeClr val="lt2"/>
              </a:solidFill>
              <a:latin typeface="Raleway"/>
              <a:ea typeface="Raleway"/>
              <a:cs typeface="Raleway"/>
              <a:sym typeface="Raleway"/>
            </a:endParaRPr>
          </a:p>
          <a:p>
            <a:pPr indent="0" lvl="0" marL="0" rtl="0" algn="ctr">
              <a:spcBef>
                <a:spcPts val="0"/>
              </a:spcBef>
              <a:spcAft>
                <a:spcPts val="0"/>
              </a:spcAft>
              <a:buNone/>
            </a:pPr>
            <a:r>
              <a:rPr b="1" lang="en" sz="2100">
                <a:solidFill>
                  <a:srgbClr val="353535"/>
                </a:solidFill>
                <a:latin typeface="Raleway"/>
                <a:ea typeface="Raleway"/>
                <a:cs typeface="Raleway"/>
                <a:sym typeface="Raleway"/>
              </a:rPr>
              <a:t>The Questions Asked in the Dataset</a:t>
            </a:r>
            <a:endParaRPr b="1" sz="2100">
              <a:solidFill>
                <a:srgbClr val="353535"/>
              </a:solidFill>
              <a:latin typeface="Raleway"/>
              <a:ea typeface="Raleway"/>
              <a:cs typeface="Raleway"/>
              <a:sym typeface="Raleway"/>
            </a:endParaRPr>
          </a:p>
        </p:txBody>
      </p:sp>
      <p:sp>
        <p:nvSpPr>
          <p:cNvPr id="108" name="Google Shape;108;p17"/>
          <p:cNvSpPr txBox="1"/>
          <p:nvPr>
            <p:ph idx="4294967295" type="body"/>
          </p:nvPr>
        </p:nvSpPr>
        <p:spPr>
          <a:xfrm>
            <a:off x="498113" y="1133750"/>
            <a:ext cx="8100300" cy="3555000"/>
          </a:xfrm>
          <a:prstGeom prst="rect">
            <a:avLst/>
          </a:prstGeom>
          <a:solidFill>
            <a:srgbClr val="C9DAF8"/>
          </a:solidFill>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Raleway"/>
              <a:buChar char="➔"/>
            </a:pPr>
            <a:r>
              <a:rPr b="1" lang="en" sz="1000">
                <a:latin typeface="Raleway"/>
                <a:ea typeface="Raleway"/>
                <a:cs typeface="Raleway"/>
                <a:sym typeface="Raleway"/>
              </a:rPr>
              <a:t>How often do you find yourself using social media without a specific purpose?</a:t>
            </a:r>
            <a:endParaRPr b="1" sz="1000">
              <a:latin typeface="Raleway"/>
              <a:ea typeface="Raleway"/>
              <a:cs typeface="Raleway"/>
              <a:sym typeface="Raleway"/>
            </a:endParaRPr>
          </a:p>
          <a:p>
            <a:pPr indent="-304800" lvl="0" marL="457200" rtl="0" algn="l">
              <a:spcBef>
                <a:spcPts val="1000"/>
              </a:spcBef>
              <a:spcAft>
                <a:spcPts val="0"/>
              </a:spcAft>
              <a:buClr>
                <a:schemeClr val="dk1"/>
              </a:buClr>
              <a:buSzPts val="1200"/>
              <a:buFont typeface="Raleway"/>
              <a:buChar char="➔"/>
            </a:pPr>
            <a:r>
              <a:rPr lang="en" sz="1000">
                <a:latin typeface="Raleway"/>
                <a:ea typeface="Raleway"/>
                <a:cs typeface="Raleway"/>
                <a:sym typeface="Raleway"/>
              </a:rPr>
              <a:t>How often do you get distracted by Social media when you are busy doing something?</a:t>
            </a:r>
            <a:endParaRPr sz="1000">
              <a:latin typeface="Raleway"/>
              <a:ea typeface="Raleway"/>
              <a:cs typeface="Raleway"/>
              <a:sym typeface="Raleway"/>
            </a:endParaRPr>
          </a:p>
          <a:p>
            <a:pPr indent="-304800" lvl="0" marL="457200" rtl="0" algn="l">
              <a:spcBef>
                <a:spcPts val="1000"/>
              </a:spcBef>
              <a:spcAft>
                <a:spcPts val="0"/>
              </a:spcAft>
              <a:buClr>
                <a:schemeClr val="dk1"/>
              </a:buClr>
              <a:buSzPts val="1200"/>
              <a:buFont typeface="Raleway"/>
              <a:buChar char="➔"/>
            </a:pPr>
            <a:r>
              <a:rPr lang="en" sz="1000">
                <a:latin typeface="Raleway"/>
                <a:ea typeface="Raleway"/>
                <a:cs typeface="Raleway"/>
                <a:sym typeface="Raleway"/>
              </a:rPr>
              <a:t>Do you feel restless if you haven't used Social media in a while?</a:t>
            </a:r>
            <a:endParaRPr sz="1000">
              <a:latin typeface="Raleway"/>
              <a:ea typeface="Raleway"/>
              <a:cs typeface="Raleway"/>
              <a:sym typeface="Raleway"/>
            </a:endParaRPr>
          </a:p>
          <a:p>
            <a:pPr indent="-304800" lvl="0" marL="457200" rtl="0" algn="l">
              <a:spcBef>
                <a:spcPts val="1000"/>
              </a:spcBef>
              <a:spcAft>
                <a:spcPts val="0"/>
              </a:spcAft>
              <a:buClr>
                <a:schemeClr val="dk1"/>
              </a:buClr>
              <a:buSzPts val="1200"/>
              <a:buFont typeface="Raleway"/>
              <a:buChar char="➔"/>
            </a:pPr>
            <a:r>
              <a:rPr lang="en" sz="1000">
                <a:latin typeface="Raleway"/>
                <a:ea typeface="Raleway"/>
                <a:cs typeface="Raleway"/>
                <a:sym typeface="Raleway"/>
              </a:rPr>
              <a:t>How easily distracted are you?</a:t>
            </a:r>
            <a:endParaRPr sz="1000">
              <a:latin typeface="Raleway"/>
              <a:ea typeface="Raleway"/>
              <a:cs typeface="Raleway"/>
              <a:sym typeface="Raleway"/>
            </a:endParaRPr>
          </a:p>
          <a:p>
            <a:pPr indent="-304800" lvl="0" marL="457200" rtl="0" algn="l">
              <a:spcBef>
                <a:spcPts val="1000"/>
              </a:spcBef>
              <a:spcAft>
                <a:spcPts val="0"/>
              </a:spcAft>
              <a:buClr>
                <a:schemeClr val="dk1"/>
              </a:buClr>
              <a:buSzPts val="1200"/>
              <a:buFont typeface="Raleway"/>
              <a:buChar char="➔"/>
            </a:pPr>
            <a:r>
              <a:rPr lang="en" sz="1000">
                <a:latin typeface="Raleway"/>
                <a:ea typeface="Raleway"/>
                <a:cs typeface="Raleway"/>
                <a:sym typeface="Raleway"/>
              </a:rPr>
              <a:t>How much are you bothered by worries?</a:t>
            </a:r>
            <a:endParaRPr sz="1000">
              <a:latin typeface="Raleway"/>
              <a:ea typeface="Raleway"/>
              <a:cs typeface="Raleway"/>
              <a:sym typeface="Raleway"/>
            </a:endParaRPr>
          </a:p>
          <a:p>
            <a:pPr indent="-304800" lvl="0" marL="457200" rtl="0" algn="l">
              <a:spcBef>
                <a:spcPts val="1000"/>
              </a:spcBef>
              <a:spcAft>
                <a:spcPts val="0"/>
              </a:spcAft>
              <a:buClr>
                <a:schemeClr val="dk1"/>
              </a:buClr>
              <a:buSzPts val="1200"/>
              <a:buFont typeface="Raleway"/>
              <a:buChar char="➔"/>
            </a:pPr>
            <a:r>
              <a:rPr lang="en" sz="1000">
                <a:latin typeface="Raleway"/>
                <a:ea typeface="Raleway"/>
                <a:cs typeface="Raleway"/>
                <a:sym typeface="Raleway"/>
              </a:rPr>
              <a:t>Do you find it difficult to concentrate on things?</a:t>
            </a:r>
            <a:endParaRPr sz="1000">
              <a:latin typeface="Raleway"/>
              <a:ea typeface="Raleway"/>
              <a:cs typeface="Raleway"/>
              <a:sym typeface="Raleway"/>
            </a:endParaRPr>
          </a:p>
          <a:p>
            <a:pPr indent="-304800" lvl="0" marL="457200" rtl="0" algn="l">
              <a:spcBef>
                <a:spcPts val="1000"/>
              </a:spcBef>
              <a:spcAft>
                <a:spcPts val="0"/>
              </a:spcAft>
              <a:buClr>
                <a:schemeClr val="dk1"/>
              </a:buClr>
              <a:buSzPts val="1200"/>
              <a:buFont typeface="Raleway"/>
              <a:buChar char="➔"/>
            </a:pPr>
            <a:r>
              <a:rPr b="1" lang="en" sz="1000">
                <a:latin typeface="Raleway"/>
                <a:ea typeface="Raleway"/>
                <a:cs typeface="Raleway"/>
                <a:sym typeface="Raleway"/>
              </a:rPr>
              <a:t>How often do you compare yourself to other successful people through the use of social media?</a:t>
            </a:r>
            <a:endParaRPr b="1" sz="1000">
              <a:latin typeface="Raleway"/>
              <a:ea typeface="Raleway"/>
              <a:cs typeface="Raleway"/>
              <a:sym typeface="Raleway"/>
            </a:endParaRPr>
          </a:p>
          <a:p>
            <a:pPr indent="-304800" lvl="0" marL="457200" rtl="0" algn="l">
              <a:spcBef>
                <a:spcPts val="1000"/>
              </a:spcBef>
              <a:spcAft>
                <a:spcPts val="0"/>
              </a:spcAft>
              <a:buClr>
                <a:schemeClr val="dk1"/>
              </a:buClr>
              <a:buSzPts val="1200"/>
              <a:buFont typeface="Raleway"/>
              <a:buChar char="➔"/>
            </a:pPr>
            <a:r>
              <a:rPr b="1" lang="en" sz="1000">
                <a:latin typeface="Raleway"/>
                <a:ea typeface="Raleway"/>
                <a:cs typeface="Raleway"/>
                <a:sym typeface="Raleway"/>
              </a:rPr>
              <a:t>Following the previous question, how do you feel about these comparisons, generally speaking?</a:t>
            </a:r>
            <a:endParaRPr b="1" sz="1000">
              <a:latin typeface="Raleway"/>
              <a:ea typeface="Raleway"/>
              <a:cs typeface="Raleway"/>
              <a:sym typeface="Raleway"/>
            </a:endParaRPr>
          </a:p>
          <a:p>
            <a:pPr indent="-304800" lvl="0" marL="457200" rtl="0" algn="l">
              <a:spcBef>
                <a:spcPts val="1000"/>
              </a:spcBef>
              <a:spcAft>
                <a:spcPts val="0"/>
              </a:spcAft>
              <a:buClr>
                <a:schemeClr val="dk1"/>
              </a:buClr>
              <a:buSzPts val="1200"/>
              <a:buFont typeface="Raleway"/>
              <a:buChar char="➔"/>
            </a:pPr>
            <a:r>
              <a:rPr b="1" lang="en" sz="1000">
                <a:latin typeface="Raleway"/>
                <a:ea typeface="Raleway"/>
                <a:cs typeface="Raleway"/>
                <a:sym typeface="Raleway"/>
              </a:rPr>
              <a:t>How often do you feel depressed or down?</a:t>
            </a:r>
            <a:endParaRPr b="1" sz="1000">
              <a:latin typeface="Raleway"/>
              <a:ea typeface="Raleway"/>
              <a:cs typeface="Raleway"/>
              <a:sym typeface="Raleway"/>
            </a:endParaRPr>
          </a:p>
          <a:p>
            <a:pPr indent="-304800" lvl="0" marL="457200" rtl="0" algn="l">
              <a:spcBef>
                <a:spcPts val="1000"/>
              </a:spcBef>
              <a:spcAft>
                <a:spcPts val="0"/>
              </a:spcAft>
              <a:buClr>
                <a:schemeClr val="dk1"/>
              </a:buClr>
              <a:buSzPts val="1200"/>
              <a:buFont typeface="Raleway"/>
              <a:buChar char="➔"/>
            </a:pPr>
            <a:r>
              <a:rPr lang="en" sz="1000">
                <a:latin typeface="Raleway"/>
                <a:ea typeface="Raleway"/>
                <a:cs typeface="Raleway"/>
                <a:sym typeface="Raleway"/>
              </a:rPr>
              <a:t>How frequently does your interest in daily activities fluctuate?</a:t>
            </a:r>
            <a:endParaRPr sz="1000">
              <a:latin typeface="Raleway"/>
              <a:ea typeface="Raleway"/>
              <a:cs typeface="Raleway"/>
              <a:sym typeface="Raleway"/>
            </a:endParaRPr>
          </a:p>
          <a:p>
            <a:pPr indent="-304800" lvl="0" marL="457200" rtl="0" algn="l">
              <a:spcBef>
                <a:spcPts val="1000"/>
              </a:spcBef>
              <a:spcAft>
                <a:spcPts val="0"/>
              </a:spcAft>
              <a:buClr>
                <a:schemeClr val="dk1"/>
              </a:buClr>
              <a:buSzPts val="1200"/>
              <a:buFont typeface="Raleway"/>
              <a:buChar char="➔"/>
            </a:pPr>
            <a:r>
              <a:rPr lang="en" sz="1000">
                <a:latin typeface="Raleway"/>
                <a:ea typeface="Raleway"/>
                <a:cs typeface="Raleway"/>
                <a:sym typeface="Raleway"/>
              </a:rPr>
              <a:t>How often do you face issues regarding sleep?</a:t>
            </a:r>
            <a:endParaRPr sz="1000">
              <a:latin typeface="Raleway"/>
              <a:ea typeface="Raleway"/>
              <a:cs typeface="Raleway"/>
              <a:sym typeface="Raleway"/>
            </a:endParaRPr>
          </a:p>
          <a:p>
            <a:pPr indent="0" lvl="0" marL="0" rtl="0" algn="l">
              <a:spcBef>
                <a:spcPts val="1000"/>
              </a:spcBef>
              <a:spcAft>
                <a:spcPts val="1000"/>
              </a:spcAft>
              <a:buNone/>
            </a:pPr>
            <a:r>
              <a:t/>
            </a:r>
            <a:endParaRPr sz="1200">
              <a:latin typeface="Raleway"/>
              <a:ea typeface="Raleway"/>
              <a:cs typeface="Raleway"/>
              <a:sym typeface="Raleway"/>
            </a:endParaRPr>
          </a:p>
        </p:txBody>
      </p:sp>
      <p:sp>
        <p:nvSpPr>
          <p:cNvPr id="109" name="Google Shape;109;p1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3535"/>
        </a:solidFill>
      </p:bgPr>
    </p:bg>
    <p:spTree>
      <p:nvGrpSpPr>
        <p:cNvPr id="113" name="Shape 113"/>
        <p:cNvGrpSpPr/>
        <p:nvPr/>
      </p:nvGrpSpPr>
      <p:grpSpPr>
        <a:xfrm>
          <a:off x="0" y="0"/>
          <a:ext cx="0" cy="0"/>
          <a:chOff x="0" y="0"/>
          <a:chExt cx="0" cy="0"/>
        </a:xfrm>
      </p:grpSpPr>
      <p:sp>
        <p:nvSpPr>
          <p:cNvPr id="114" name="Google Shape;114;p18"/>
          <p:cNvSpPr txBox="1"/>
          <p:nvPr>
            <p:ph type="title"/>
          </p:nvPr>
        </p:nvSpPr>
        <p:spPr>
          <a:xfrm>
            <a:off x="81000" y="-107325"/>
            <a:ext cx="8775300" cy="111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900"/>
          </a:p>
          <a:p>
            <a:pPr indent="0" lvl="0" marL="0" rtl="0" algn="just">
              <a:spcBef>
                <a:spcPts val="1000"/>
              </a:spcBef>
              <a:spcAft>
                <a:spcPts val="0"/>
              </a:spcAft>
              <a:buNone/>
            </a:pPr>
            <a:r>
              <a:t/>
            </a:r>
            <a:endParaRPr sz="1200">
              <a:solidFill>
                <a:srgbClr val="FFFFFF"/>
              </a:solidFill>
            </a:endParaRPr>
          </a:p>
          <a:p>
            <a:pPr indent="0" lvl="0" marL="0" rtl="0" algn="just">
              <a:spcBef>
                <a:spcPts val="1000"/>
              </a:spcBef>
              <a:spcAft>
                <a:spcPts val="0"/>
              </a:spcAft>
              <a:buNone/>
            </a:pPr>
            <a:r>
              <a:rPr lang="en" sz="1200">
                <a:solidFill>
                  <a:srgbClr val="FFFFFF"/>
                </a:solidFill>
              </a:rPr>
              <a:t>- By using the </a:t>
            </a:r>
            <a:r>
              <a:rPr lang="en" sz="1200">
                <a:solidFill>
                  <a:srgbClr val="FFFFFF"/>
                </a:solidFill>
              </a:rPr>
              <a:t>ggplot</a:t>
            </a:r>
            <a:r>
              <a:rPr lang="en" sz="1200">
                <a:solidFill>
                  <a:srgbClr val="FFFFFF"/>
                </a:solidFill>
              </a:rPr>
              <a:t> package for creating a chart, draw  the age group from age 13 to 99 and the time that they spent on social media without a specific purpose.</a:t>
            </a:r>
            <a:endParaRPr sz="1200">
              <a:solidFill>
                <a:srgbClr val="FFFFFF"/>
              </a:solidFill>
            </a:endParaRPr>
          </a:p>
          <a:p>
            <a:pPr indent="0" lvl="0" marL="0" rtl="0" algn="just">
              <a:spcBef>
                <a:spcPts val="1000"/>
              </a:spcBef>
              <a:spcAft>
                <a:spcPts val="0"/>
              </a:spcAft>
              <a:buNone/>
            </a:pPr>
            <a:r>
              <a:rPr lang="en" sz="1200">
                <a:solidFill>
                  <a:srgbClr val="FFFFFF"/>
                </a:solidFill>
              </a:rPr>
              <a:t>- </a:t>
            </a:r>
            <a:r>
              <a:rPr lang="en" sz="1200">
                <a:solidFill>
                  <a:srgbClr val="FFFFFF"/>
                </a:solidFill>
              </a:rPr>
              <a:t>The</a:t>
            </a:r>
            <a:r>
              <a:rPr lang="en" sz="1200">
                <a:solidFill>
                  <a:srgbClr val="FFFFFF"/>
                </a:solidFill>
              </a:rPr>
              <a:t> result supported that time spent on social media without specific purpose is frequent  in age group in ages between 18 and 29. </a:t>
            </a:r>
            <a:endParaRPr sz="1200">
              <a:solidFill>
                <a:srgbClr val="FFFFFF"/>
              </a:solidFill>
            </a:endParaRPr>
          </a:p>
          <a:p>
            <a:pPr indent="0" lvl="0" marL="0" rtl="0" algn="just">
              <a:spcBef>
                <a:spcPts val="1000"/>
              </a:spcBef>
              <a:spcAft>
                <a:spcPts val="0"/>
              </a:spcAft>
              <a:buNone/>
            </a:pPr>
            <a:r>
              <a:rPr lang="en" sz="1200">
                <a:solidFill>
                  <a:srgbClr val="FFFFFF"/>
                </a:solidFill>
              </a:rPr>
              <a:t>- There is a high frequency of users that spent time on social media without a specific purpose.</a:t>
            </a:r>
            <a:r>
              <a:rPr lang="en" sz="1100">
                <a:solidFill>
                  <a:srgbClr val="FFFFFF"/>
                </a:solidFill>
              </a:rPr>
              <a:t> </a:t>
            </a:r>
            <a:endParaRPr sz="1100">
              <a:solidFill>
                <a:srgbClr val="FFFFFF"/>
              </a:solidFill>
            </a:endParaRPr>
          </a:p>
          <a:p>
            <a:pPr indent="0" lvl="0" marL="0" rtl="0" algn="just">
              <a:spcBef>
                <a:spcPts val="1000"/>
              </a:spcBef>
              <a:spcAft>
                <a:spcPts val="1000"/>
              </a:spcAft>
              <a:buNone/>
            </a:pPr>
            <a:r>
              <a:t/>
            </a:r>
            <a:endParaRPr sz="900">
              <a:solidFill>
                <a:srgbClr val="FFFFFF"/>
              </a:solidFill>
            </a:endParaRPr>
          </a:p>
        </p:txBody>
      </p:sp>
      <p:sp>
        <p:nvSpPr>
          <p:cNvPr id="115" name="Google Shape;115;p1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16" name="Google Shape;116;p18"/>
          <p:cNvPicPr preferRelativeResize="0"/>
          <p:nvPr/>
        </p:nvPicPr>
        <p:blipFill>
          <a:blip r:embed="rId3">
            <a:alphaModFix/>
          </a:blip>
          <a:stretch>
            <a:fillRect/>
          </a:stretch>
        </p:blipFill>
        <p:spPr>
          <a:xfrm>
            <a:off x="1782750" y="2060475"/>
            <a:ext cx="5487225" cy="2969326"/>
          </a:xfrm>
          <a:prstGeom prst="rect">
            <a:avLst/>
          </a:prstGeom>
          <a:noFill/>
          <a:ln>
            <a:noFill/>
          </a:ln>
        </p:spPr>
      </p:pic>
      <p:sp>
        <p:nvSpPr>
          <p:cNvPr id="117" name="Google Shape;117;p18"/>
          <p:cNvSpPr txBox="1"/>
          <p:nvPr/>
        </p:nvSpPr>
        <p:spPr>
          <a:xfrm>
            <a:off x="81000" y="280275"/>
            <a:ext cx="3593100" cy="33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Clr>
                <a:schemeClr val="dk2"/>
              </a:buClr>
              <a:buSzPts val="1100"/>
              <a:buFont typeface="Arial"/>
              <a:buNone/>
            </a:pPr>
            <a:r>
              <a:rPr b="1" lang="en" sz="2900">
                <a:solidFill>
                  <a:schemeClr val="accent5"/>
                </a:solidFill>
                <a:latin typeface="Raleway"/>
                <a:ea typeface="Raleway"/>
                <a:cs typeface="Raleway"/>
                <a:sym typeface="Raleway"/>
              </a:rPr>
              <a:t>Methods/Findings </a:t>
            </a:r>
            <a:endParaRPr sz="2900">
              <a:solidFill>
                <a:schemeClr val="dk2"/>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80475" y="667850"/>
            <a:ext cx="3639900" cy="33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3500"/>
          </a:p>
          <a:p>
            <a:pPr indent="-298450" lvl="0" marL="457200" rtl="0" algn="just">
              <a:spcBef>
                <a:spcPts val="1000"/>
              </a:spcBef>
              <a:spcAft>
                <a:spcPts val="0"/>
              </a:spcAft>
              <a:buClr>
                <a:srgbClr val="FFFFFF"/>
              </a:buClr>
              <a:buSzPts val="1100"/>
              <a:buChar char="-"/>
            </a:pPr>
            <a:r>
              <a:rPr lang="en" sz="1200">
                <a:solidFill>
                  <a:srgbClr val="FFFFFF"/>
                </a:solidFill>
              </a:rPr>
              <a:t>The box plot shows that there is a high indication that the social media usage creates comparison with others, makes user feel negative about this comparison and leads to feel depressed and down. </a:t>
            </a:r>
            <a:endParaRPr sz="1200">
              <a:solidFill>
                <a:srgbClr val="FFFFFF"/>
              </a:solidFill>
            </a:endParaRPr>
          </a:p>
          <a:p>
            <a:pPr indent="-304800" lvl="0" marL="457200" rtl="0" algn="just">
              <a:spcBef>
                <a:spcPts val="0"/>
              </a:spcBef>
              <a:spcAft>
                <a:spcPts val="0"/>
              </a:spcAft>
              <a:buClr>
                <a:srgbClr val="FFFFFF"/>
              </a:buClr>
              <a:buSzPts val="1200"/>
              <a:buChar char="-"/>
            </a:pPr>
            <a:r>
              <a:rPr lang="en" sz="1200">
                <a:solidFill>
                  <a:srgbClr val="FFFFFF"/>
                </a:solidFill>
              </a:rPr>
              <a:t>The highest effect of social media usage is feeling depressed on social media, with the average of 3.25 out of 5. </a:t>
            </a:r>
            <a:endParaRPr sz="1200">
              <a:solidFill>
                <a:srgbClr val="FFFFFF"/>
              </a:solidFill>
            </a:endParaRPr>
          </a:p>
          <a:p>
            <a:pPr indent="0" lvl="0" marL="457200" rtl="0" algn="just">
              <a:spcBef>
                <a:spcPts val="1000"/>
              </a:spcBef>
              <a:spcAft>
                <a:spcPts val="0"/>
              </a:spcAft>
              <a:buNone/>
            </a:pPr>
            <a:r>
              <a:t/>
            </a:r>
            <a:endParaRPr sz="1100">
              <a:solidFill>
                <a:srgbClr val="FFFFFF"/>
              </a:solidFill>
            </a:endParaRPr>
          </a:p>
          <a:p>
            <a:pPr indent="0" lvl="0" marL="0" rtl="0" algn="just">
              <a:spcBef>
                <a:spcPts val="1000"/>
              </a:spcBef>
              <a:spcAft>
                <a:spcPts val="1000"/>
              </a:spcAft>
              <a:buNone/>
            </a:pPr>
            <a:r>
              <a:t/>
            </a:r>
            <a:endParaRPr sz="900">
              <a:solidFill>
                <a:srgbClr val="FFFFFF"/>
              </a:solidFill>
            </a:endParaRPr>
          </a:p>
        </p:txBody>
      </p:sp>
      <p:sp>
        <p:nvSpPr>
          <p:cNvPr id="123" name="Google Shape;123;p1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4" name="Google Shape;124;p19"/>
          <p:cNvPicPr preferRelativeResize="0"/>
          <p:nvPr/>
        </p:nvPicPr>
        <p:blipFill>
          <a:blip r:embed="rId3">
            <a:alphaModFix/>
          </a:blip>
          <a:stretch>
            <a:fillRect/>
          </a:stretch>
        </p:blipFill>
        <p:spPr>
          <a:xfrm>
            <a:off x="3819625" y="754400"/>
            <a:ext cx="5227077" cy="3208488"/>
          </a:xfrm>
          <a:prstGeom prst="rect">
            <a:avLst/>
          </a:prstGeom>
          <a:noFill/>
          <a:ln>
            <a:noFill/>
          </a:ln>
        </p:spPr>
      </p:pic>
      <p:pic>
        <p:nvPicPr>
          <p:cNvPr id="125" name="Google Shape;125;p19"/>
          <p:cNvPicPr preferRelativeResize="0"/>
          <p:nvPr/>
        </p:nvPicPr>
        <p:blipFill>
          <a:blip r:embed="rId4">
            <a:alphaModFix/>
          </a:blip>
          <a:stretch>
            <a:fillRect/>
          </a:stretch>
        </p:blipFill>
        <p:spPr>
          <a:xfrm>
            <a:off x="0" y="4465741"/>
            <a:ext cx="9144003" cy="486668"/>
          </a:xfrm>
          <a:prstGeom prst="rect">
            <a:avLst/>
          </a:prstGeom>
          <a:noFill/>
          <a:ln>
            <a:noFill/>
          </a:ln>
        </p:spPr>
      </p:pic>
      <p:sp>
        <p:nvSpPr>
          <p:cNvPr id="126" name="Google Shape;126;p19"/>
          <p:cNvSpPr txBox="1"/>
          <p:nvPr/>
        </p:nvSpPr>
        <p:spPr>
          <a:xfrm>
            <a:off x="80475" y="274250"/>
            <a:ext cx="54261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Clr>
                <a:schemeClr val="dk2"/>
              </a:buClr>
              <a:buSzPts val="1100"/>
              <a:buFont typeface="Arial"/>
              <a:buNone/>
            </a:pPr>
            <a:r>
              <a:rPr b="1" lang="en" sz="2900">
                <a:solidFill>
                  <a:schemeClr val="accent5"/>
                </a:solidFill>
                <a:latin typeface="Raleway"/>
                <a:ea typeface="Raleway"/>
                <a:cs typeface="Raleway"/>
                <a:sym typeface="Raleway"/>
              </a:rPr>
              <a:t>Methods/Findings </a:t>
            </a:r>
            <a:endParaRPr sz="2900">
              <a:solidFill>
                <a:schemeClr val="dk2"/>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130" name="Shape 130"/>
        <p:cNvGrpSpPr/>
        <p:nvPr/>
      </p:nvGrpSpPr>
      <p:grpSpPr>
        <a:xfrm>
          <a:off x="0" y="0"/>
          <a:ext cx="0" cy="0"/>
          <a:chOff x="0" y="0"/>
          <a:chExt cx="0" cy="0"/>
        </a:xfrm>
      </p:grpSpPr>
      <p:pic>
        <p:nvPicPr>
          <p:cNvPr id="131" name="Google Shape;131;p20"/>
          <p:cNvPicPr preferRelativeResize="0"/>
          <p:nvPr/>
        </p:nvPicPr>
        <p:blipFill rotWithShape="1">
          <a:blip r:embed="rId3">
            <a:alphaModFix/>
          </a:blip>
          <a:srcRect b="0" l="20302" r="14563" t="0"/>
          <a:stretch/>
        </p:blipFill>
        <p:spPr>
          <a:xfrm>
            <a:off x="6215400" y="1515925"/>
            <a:ext cx="2928601" cy="3172825"/>
          </a:xfrm>
          <a:prstGeom prst="rect">
            <a:avLst/>
          </a:prstGeom>
          <a:noFill/>
          <a:ln>
            <a:noFill/>
          </a:ln>
        </p:spPr>
      </p:pic>
      <p:sp>
        <p:nvSpPr>
          <p:cNvPr id="132" name="Google Shape;132;p20"/>
          <p:cNvSpPr/>
          <p:nvPr/>
        </p:nvSpPr>
        <p:spPr>
          <a:xfrm>
            <a:off x="90300" y="916025"/>
            <a:ext cx="6125100" cy="40446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 name="Google Shape;133;p20"/>
          <p:cNvSpPr txBox="1"/>
          <p:nvPr>
            <p:ph idx="4294967295" type="title"/>
          </p:nvPr>
        </p:nvSpPr>
        <p:spPr>
          <a:xfrm>
            <a:off x="90300" y="107900"/>
            <a:ext cx="81786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Key Takeaways/ Results</a:t>
            </a:r>
            <a:endParaRPr sz="2400"/>
          </a:p>
        </p:txBody>
      </p:sp>
      <p:sp>
        <p:nvSpPr>
          <p:cNvPr id="134" name="Google Shape;134;p20"/>
          <p:cNvSpPr txBox="1"/>
          <p:nvPr>
            <p:ph idx="4294967295" type="title"/>
          </p:nvPr>
        </p:nvSpPr>
        <p:spPr>
          <a:xfrm>
            <a:off x="-69975" y="383825"/>
            <a:ext cx="6285300" cy="348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0" sz="1700">
              <a:latin typeface="Lato"/>
              <a:ea typeface="Lato"/>
              <a:cs typeface="Lato"/>
              <a:sym typeface="Lato"/>
            </a:endParaRPr>
          </a:p>
          <a:p>
            <a:pPr indent="-311150" lvl="0" marL="457200" rtl="0" algn="l">
              <a:lnSpc>
                <a:spcPct val="115000"/>
              </a:lnSpc>
              <a:spcBef>
                <a:spcPts val="1600"/>
              </a:spcBef>
              <a:spcAft>
                <a:spcPts val="0"/>
              </a:spcAft>
              <a:buSzPts val="1300"/>
              <a:buFont typeface="Lato"/>
              <a:buChar char="●"/>
            </a:pPr>
            <a:r>
              <a:rPr b="0" lang="en" sz="1300">
                <a:latin typeface="Lato"/>
                <a:ea typeface="Lato"/>
                <a:cs typeface="Lato"/>
                <a:sym typeface="Lato"/>
              </a:rPr>
              <a:t>The bar chart  for social media usage shows how often users engage with social media without specific purpose. High engagement levels without specific purpose could show that the algorithms are forcing the user to engage with the platform. </a:t>
            </a:r>
            <a:endParaRPr b="0" sz="1300">
              <a:latin typeface="Lato"/>
              <a:ea typeface="Lato"/>
              <a:cs typeface="Lato"/>
              <a:sym typeface="Lato"/>
            </a:endParaRPr>
          </a:p>
          <a:p>
            <a:pPr indent="-311150" lvl="0" marL="457200" rtl="0" algn="l">
              <a:lnSpc>
                <a:spcPct val="115000"/>
              </a:lnSpc>
              <a:spcBef>
                <a:spcPts val="0"/>
              </a:spcBef>
              <a:spcAft>
                <a:spcPts val="0"/>
              </a:spcAft>
              <a:buSzPts val="1300"/>
              <a:buFont typeface="Lato"/>
              <a:buChar char="●"/>
            </a:pPr>
            <a:r>
              <a:rPr b="0" lang="en" sz="1300">
                <a:latin typeface="Lato"/>
                <a:ea typeface="Lato"/>
                <a:cs typeface="Lato"/>
                <a:sym typeface="Lato"/>
              </a:rPr>
              <a:t>The algorithms that prioritize highly popular content could lead users to compare with others on social media. </a:t>
            </a:r>
            <a:endParaRPr b="0" sz="1300">
              <a:latin typeface="Lato"/>
              <a:ea typeface="Lato"/>
              <a:cs typeface="Lato"/>
              <a:sym typeface="Lato"/>
            </a:endParaRPr>
          </a:p>
          <a:p>
            <a:pPr indent="-311150" lvl="0" marL="457200" rtl="0" algn="l">
              <a:lnSpc>
                <a:spcPct val="115000"/>
              </a:lnSpc>
              <a:spcBef>
                <a:spcPts val="0"/>
              </a:spcBef>
              <a:spcAft>
                <a:spcPts val="0"/>
              </a:spcAft>
              <a:buSzPts val="1300"/>
              <a:buFont typeface="Lato"/>
              <a:buChar char="●"/>
            </a:pPr>
            <a:r>
              <a:rPr b="0" lang="en" sz="1300">
                <a:latin typeface="Lato"/>
                <a:ea typeface="Lato"/>
                <a:cs typeface="Lato"/>
                <a:sym typeface="Lato"/>
              </a:rPr>
              <a:t>The box plot for feeling depressed indicates the self-reported frequency of depressive feeling among users. There is  an association with social media and algorithms that expose users to content that triggers negative emotional feelings. </a:t>
            </a:r>
            <a:endParaRPr b="0" sz="1300">
              <a:latin typeface="Lato"/>
              <a:ea typeface="Lato"/>
              <a:cs typeface="Lato"/>
              <a:sym typeface="Lato"/>
            </a:endParaRPr>
          </a:p>
          <a:p>
            <a:pPr indent="-311150" lvl="0" marL="457200" rtl="0" algn="l">
              <a:lnSpc>
                <a:spcPct val="115000"/>
              </a:lnSpc>
              <a:spcBef>
                <a:spcPts val="0"/>
              </a:spcBef>
              <a:spcAft>
                <a:spcPts val="0"/>
              </a:spcAft>
              <a:buSzPts val="1300"/>
              <a:buFont typeface="Lato"/>
              <a:buChar char="●"/>
            </a:pPr>
            <a:r>
              <a:rPr b="0" lang="en" sz="1300">
                <a:latin typeface="Lato"/>
                <a:ea typeface="Lato"/>
                <a:cs typeface="Lato"/>
                <a:sym typeface="Lato"/>
              </a:rPr>
              <a:t>Algorithms create echo chambers by filtering content that aligns with a user’s views and interest, excluding diverse perspective. This could intensify the emotional impact of content and increased comparison and mental health issues.</a:t>
            </a:r>
            <a:endParaRPr b="0" sz="1300">
              <a:latin typeface="Lato"/>
              <a:ea typeface="Lato"/>
              <a:cs typeface="Lato"/>
              <a:sym typeface="Lato"/>
            </a:endParaRPr>
          </a:p>
          <a:p>
            <a:pPr indent="-311150" lvl="0" marL="457200" rtl="0" algn="l">
              <a:lnSpc>
                <a:spcPct val="115000"/>
              </a:lnSpc>
              <a:spcBef>
                <a:spcPts val="0"/>
              </a:spcBef>
              <a:spcAft>
                <a:spcPts val="0"/>
              </a:spcAft>
              <a:buSzPts val="1300"/>
              <a:buFont typeface="Lato"/>
              <a:buChar char="●"/>
            </a:pPr>
            <a:r>
              <a:rPr b="0" lang="en" sz="1300">
                <a:latin typeface="Lato"/>
                <a:ea typeface="Lato"/>
                <a:cs typeface="Lato"/>
                <a:sym typeface="Lato"/>
              </a:rPr>
              <a:t>There needs to be further investigation on the data due to 50% accuracy that I  conducted using both decision tree and glm modeling and </a:t>
            </a:r>
            <a:r>
              <a:rPr b="0" lang="en" sz="1300">
                <a:latin typeface="Lato"/>
                <a:ea typeface="Lato"/>
                <a:cs typeface="Lato"/>
                <a:sym typeface="Lato"/>
              </a:rPr>
              <a:t>high</a:t>
            </a:r>
            <a:r>
              <a:rPr b="0" lang="en" sz="1300">
                <a:latin typeface="Lato"/>
                <a:ea typeface="Lato"/>
                <a:cs typeface="Lato"/>
                <a:sym typeface="Lato"/>
              </a:rPr>
              <a:t> subjectivity of the topic. </a:t>
            </a:r>
            <a:endParaRPr b="0" sz="1300">
              <a:latin typeface="Lato"/>
              <a:ea typeface="Lato"/>
              <a:cs typeface="Lato"/>
              <a:sym typeface="Lato"/>
            </a:endParaRPr>
          </a:p>
          <a:p>
            <a:pPr indent="0" lvl="0" marL="0" rtl="0" algn="l">
              <a:lnSpc>
                <a:spcPct val="115000"/>
              </a:lnSpc>
              <a:spcBef>
                <a:spcPts val="1600"/>
              </a:spcBef>
              <a:spcAft>
                <a:spcPts val="1600"/>
              </a:spcAft>
              <a:buNone/>
            </a:pPr>
            <a:r>
              <a:t/>
            </a:r>
            <a:endParaRPr b="0" sz="1700">
              <a:latin typeface="Lato"/>
              <a:ea typeface="Lato"/>
              <a:cs typeface="Lato"/>
              <a:sym typeface="Lato"/>
            </a:endParaRPr>
          </a:p>
        </p:txBody>
      </p:sp>
      <p:sp>
        <p:nvSpPr>
          <p:cNvPr id="135" name="Google Shape;135;p2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1" name="Google Shape;141;p21"/>
          <p:cNvSpPr txBox="1"/>
          <p:nvPr/>
        </p:nvSpPr>
        <p:spPr>
          <a:xfrm>
            <a:off x="581700" y="2045000"/>
            <a:ext cx="54261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000"/>
              </a:spcAft>
              <a:buNone/>
            </a:pPr>
            <a:r>
              <a:rPr b="1" lang="en" sz="3700">
                <a:solidFill>
                  <a:schemeClr val="accent5"/>
                </a:solidFill>
                <a:latin typeface="Raleway"/>
                <a:ea typeface="Raleway"/>
                <a:cs typeface="Raleway"/>
                <a:sym typeface="Raleway"/>
              </a:rPr>
              <a:t>Thank you for listening </a:t>
            </a:r>
            <a:endParaRPr sz="3700">
              <a:solidFill>
                <a:schemeClr val="dk2"/>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